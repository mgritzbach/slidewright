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960" userDrawn="1">
          <p15:clr>
            <a:srgbClr val="A4A3A4"/>
          </p15:clr>
        </p15:guide>
        <p15:guide id="2" pos="6720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37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2" y="172"/>
      </p:cViewPr>
      <p:guideLst>
        <p:guide pos="960"/>
        <p:guide pos="6720"/>
        <p:guide orient="horz" pos="576"/>
        <p:guide orient="horz"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0DA8-4162-4C16-FB75-A3661EEDF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C57B1-FB07-DCE8-7C2D-70CFA394B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C9420-F6DB-617E-5816-A41F7F37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B5AFC-3090-6A06-6C3F-87E2FB44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AC039-AF55-3E0B-CACC-C69A5357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0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W Profi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6FC4F-3A8E-B075-F43C-E0ACAA940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200" y="863600"/>
            <a:ext cx="8483600" cy="787400"/>
          </a:xfrm>
        </p:spPr>
        <p:txBody>
          <a:bodyPr wrap="square">
            <a:noAutofit/>
          </a:bodyPr>
          <a:lstStyle>
            <a:lvl1pPr>
              <a:defRPr sz="3000" b="1">
                <a:solidFill>
                  <a:srgbClr val="2F263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57C2-E607-77AD-64D2-6DD5E5A4D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200" y="1955800"/>
            <a:ext cx="8483600" cy="3683000"/>
          </a:xfrm>
        </p:spPr>
        <p:txBody>
          <a:bodyPr wrap="square">
            <a:noAutofit/>
          </a:bodyPr>
          <a:lstStyle>
            <a:lvl1pPr>
              <a:defRPr sz="2000" b="0">
                <a:solidFill>
                  <a:srgbClr val="4A4552"/>
                </a:solidFill>
                <a:latin typeface="Arial" panose="020B0604020202020204" pitchFamily="34" charset="0"/>
              </a:defRPr>
            </a:lvl1pPr>
            <a:lvl2pPr>
              <a:defRPr sz="2000" b="0">
                <a:solidFill>
                  <a:srgbClr val="4A4552"/>
                </a:solidFill>
                <a:latin typeface="Arial" panose="020B0604020202020204" pitchFamily="34" charset="0"/>
              </a:defRPr>
            </a:lvl2pPr>
            <a:lvl3pPr>
              <a:defRPr sz="2000" b="0">
                <a:solidFill>
                  <a:srgbClr val="4A4552"/>
                </a:solidFill>
                <a:latin typeface="Arial" panose="020B0604020202020204" pitchFamily="34" charset="0"/>
              </a:defRPr>
            </a:lvl3pPr>
            <a:lvl4pPr>
              <a:defRPr sz="2000" b="0">
                <a:solidFill>
                  <a:srgbClr val="4A4552"/>
                </a:solidFill>
                <a:latin typeface="Arial" panose="020B0604020202020204" pitchFamily="34" charset="0"/>
              </a:defRPr>
            </a:lvl4pPr>
            <a:lvl5pPr>
              <a:defRPr sz="2000" b="0">
                <a:solidFill>
                  <a:srgbClr val="4A4552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A905D-E248-57CA-452F-BBAE7AA0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3C1C7-9C9E-CD74-C2E5-51BC51146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D9C55-2764-F0B6-E890-2DF86001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W Limiter Left">
            <a:extLst>
              <a:ext uri="{FF2B5EF4-FFF2-40B4-BE49-F238E27FC236}">
                <a16:creationId xmlns:a16="http://schemas.microsoft.com/office/drawing/2014/main" id="{C8B34F33-B062-2241-D3D3-5087DC51EB7C}"/>
              </a:ext>
            </a:extLst>
          </p:cNvPr>
          <p:cNvSpPr/>
          <p:nvPr userDrawn="1"/>
        </p:nvSpPr>
        <p:spPr>
          <a:xfrm>
            <a:off x="1524000" y="863600"/>
            <a:ext cx="25400" cy="5130800"/>
          </a:xfrm>
          <a:prstGeom prst="rect">
            <a:avLst/>
          </a:prstGeom>
          <a:solidFill>
            <a:srgbClr val="3D53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W Limiter Right">
            <a:extLst>
              <a:ext uri="{FF2B5EF4-FFF2-40B4-BE49-F238E27FC236}">
                <a16:creationId xmlns:a16="http://schemas.microsoft.com/office/drawing/2014/main" id="{7736DAA8-26B0-BCC1-7662-0551AD5C4F52}"/>
              </a:ext>
            </a:extLst>
          </p:cNvPr>
          <p:cNvSpPr/>
          <p:nvPr userDrawn="1"/>
        </p:nvSpPr>
        <p:spPr>
          <a:xfrm>
            <a:off x="10642600" y="863600"/>
            <a:ext cx="25400" cy="5130800"/>
          </a:xfrm>
          <a:prstGeom prst="rect">
            <a:avLst/>
          </a:prstGeom>
          <a:solidFill>
            <a:srgbClr val="3D53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0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W Profi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A695A-23DD-861D-B689-DC3B2881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0" y="1905000"/>
            <a:ext cx="8001000" cy="1066800"/>
          </a:xfrm>
        </p:spPr>
        <p:txBody>
          <a:bodyPr wrap="square" anchor="b">
            <a:noAutofit/>
          </a:bodyPr>
          <a:lstStyle>
            <a:lvl1pPr>
              <a:defRPr sz="3600" b="1">
                <a:solidFill>
                  <a:srgbClr val="2F263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C0E8B-EC63-345F-C55A-BBE5B457F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6800" y="3174999"/>
            <a:ext cx="8001000" cy="1524000"/>
          </a:xfrm>
        </p:spPr>
        <p:txBody>
          <a:bodyPr wrap="square">
            <a:noAutofit/>
          </a:bodyPr>
          <a:lstStyle>
            <a:lvl1pPr marL="0" indent="0">
              <a:buNone/>
              <a:defRPr sz="1800" b="0">
                <a:solidFill>
                  <a:srgbClr val="4A455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B2DE3-8623-E45D-3764-3F2D7706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3CA55-DE86-ACF1-538D-F59681A1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A6CE1-48D0-8913-CB93-146B9E7E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W Section Limiter Left">
            <a:extLst>
              <a:ext uri="{FF2B5EF4-FFF2-40B4-BE49-F238E27FC236}">
                <a16:creationId xmlns:a16="http://schemas.microsoft.com/office/drawing/2014/main" id="{57D79C2B-19A7-E5BA-EED9-14190E656091}"/>
              </a:ext>
            </a:extLst>
          </p:cNvPr>
          <p:cNvSpPr/>
          <p:nvPr userDrawn="1"/>
        </p:nvSpPr>
        <p:spPr>
          <a:xfrm>
            <a:off x="1524000" y="863600"/>
            <a:ext cx="25400" cy="5130800"/>
          </a:xfrm>
          <a:prstGeom prst="rect">
            <a:avLst/>
          </a:prstGeom>
          <a:solidFill>
            <a:srgbClr val="3D53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W Section Limiter Right">
            <a:extLst>
              <a:ext uri="{FF2B5EF4-FFF2-40B4-BE49-F238E27FC236}">
                <a16:creationId xmlns:a16="http://schemas.microsoft.com/office/drawing/2014/main" id="{98F05A27-3714-09EC-083B-8E58D7A45A22}"/>
              </a:ext>
            </a:extLst>
          </p:cNvPr>
          <p:cNvSpPr/>
          <p:nvPr userDrawn="1"/>
        </p:nvSpPr>
        <p:spPr>
          <a:xfrm>
            <a:off x="10642600" y="863600"/>
            <a:ext cx="25400" cy="5130800"/>
          </a:xfrm>
          <a:prstGeom prst="rect">
            <a:avLst/>
          </a:prstGeom>
          <a:solidFill>
            <a:srgbClr val="3D53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W Declared Asymmetric Accent">
            <a:extLst>
              <a:ext uri="{FF2B5EF4-FFF2-40B4-BE49-F238E27FC236}">
                <a16:creationId xmlns:a16="http://schemas.microsoft.com/office/drawing/2014/main" id="{12B5647D-3461-FFCE-BEE3-06D01FC41CDE}"/>
              </a:ext>
            </a:extLst>
          </p:cNvPr>
          <p:cNvSpPr/>
          <p:nvPr userDrawn="1"/>
        </p:nvSpPr>
        <p:spPr>
          <a:xfrm>
            <a:off x="1854200" y="1803400"/>
            <a:ext cx="127000" cy="3175000"/>
          </a:xfrm>
          <a:prstGeom prst="rect">
            <a:avLst/>
          </a:prstGeom>
          <a:solidFill>
            <a:srgbClr val="E36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W Declared Rule Left">
            <a:extLst>
              <a:ext uri="{FF2B5EF4-FFF2-40B4-BE49-F238E27FC236}">
                <a16:creationId xmlns:a16="http://schemas.microsoft.com/office/drawing/2014/main" id="{2F01FF50-EB08-B27A-8F60-A2985F7EBD35}"/>
              </a:ext>
            </a:extLst>
          </p:cNvPr>
          <p:cNvSpPr/>
          <p:nvPr userDrawn="1"/>
        </p:nvSpPr>
        <p:spPr>
          <a:xfrm>
            <a:off x="2336800" y="5334000"/>
            <a:ext cx="38100" cy="457200"/>
          </a:xfrm>
          <a:prstGeom prst="rect">
            <a:avLst/>
          </a:prstGeom>
          <a:solidFill>
            <a:srgbClr val="E36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W Declared Rule Right">
            <a:extLst>
              <a:ext uri="{FF2B5EF4-FFF2-40B4-BE49-F238E27FC236}">
                <a16:creationId xmlns:a16="http://schemas.microsoft.com/office/drawing/2014/main" id="{902D3BB9-1C8C-6DB6-8054-42D463C8F10A}"/>
              </a:ext>
            </a:extLst>
          </p:cNvPr>
          <p:cNvSpPr/>
          <p:nvPr userDrawn="1"/>
        </p:nvSpPr>
        <p:spPr>
          <a:xfrm>
            <a:off x="9791700" y="5334000"/>
            <a:ext cx="63500" cy="457200"/>
          </a:xfrm>
          <a:prstGeom prst="rect">
            <a:avLst/>
          </a:prstGeom>
          <a:solidFill>
            <a:srgbClr val="E36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2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5979-C574-A420-F31F-E76AF34F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74253-F8F0-64BA-854C-366B7250C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8412F-5B68-B3BE-4962-FAFE2911D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34A6E-0520-31C1-4F0A-71325100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850DE-12EF-FA9D-5F0E-C9F1681F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74F8-9498-57B5-D2AC-D9C93E6A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64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9F2B0-2422-EC88-9231-F52FA767A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28D27-35E2-CB9C-F070-B2542DB7D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8AE17-98EB-1A30-EFAE-8BAF4C208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E809F-60CC-A888-B59F-F1357F090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F924E-8CC6-59FB-1BAA-C5A4CC78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B27D5-0D3D-454B-09E8-EFB51318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51AF6-649E-FDBA-5F60-7ECE2FC4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7CC98-9023-77E0-104F-9133E649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0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844B-59EB-6305-EAF3-5912726A2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742F1-298B-712A-C9ED-98092FF6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34E51-5A4E-4040-5F6A-591B2669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21A44-CC04-5D7A-17EE-4281DD7B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9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07A09-CEC5-BCDC-4AC2-779E2A1C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7D963-71FD-2430-A3BA-9C0D155C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7567D-7FF5-81BA-96B7-87E688F9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1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3448-EF7F-5C61-3552-91CEA5681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163ED-AD29-31AC-2C8A-FF7C1FDEF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8F0B6-7FAB-E02C-BD6A-81B1AFAB7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969D4-B498-69FC-4D52-0B1F25B79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5899E-D5FC-2D38-FBC6-4D253151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1665F-D8B4-6E42-7DD2-4ADA5176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3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35D1-B481-5285-73D7-BEC6B37B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46BA8-EC6D-ED0A-79EF-2A35560FF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61E59-4ECC-30F6-F921-DA99A9AA2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93F7F-704D-AEBE-40D6-56E88990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E6955-87CA-E721-BD87-F173B4D9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7F5B1-9829-84A3-008F-3A939AF2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7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F4F9-D56F-3933-CAC7-BBEDF20B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1834D-FB0F-3353-CB47-0E3C87512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BB6F3-9DF2-684F-F47C-413A50631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53345-069F-F97D-F104-F864C5A0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715B6-137A-BDBB-40E1-37325D6A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00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26623-8579-B9C1-FA2E-EFA4D3E2A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EFEAF-580C-4294-97D3-C2ECE8B01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4E3A3-3222-D8FB-5493-9C42B1A6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AB3CA-BED0-FF6C-BB39-143FFD943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3A507-0CC2-DB99-DB39-4AD7BCC2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9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20636-4E36-395C-5E49-E4AFC31F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495C0-AE53-4881-5DDE-CEC8B6F6C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AD4B8-E6A3-A9DD-05F2-1B36D2D8E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1B5C4-372F-427D-AAF4-4376A734D58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177BF-4AA9-F821-E68F-333A9A546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SLIDEWRIGHT DESIGN PROFILE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0E729-0F64-1396-E954-7B1CD93C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5D10E-DA3C-46B0-8203-6778E7F4E2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W Rail Left">
            <a:extLst>
              <a:ext uri="{FF2B5EF4-FFF2-40B4-BE49-F238E27FC236}">
                <a16:creationId xmlns:a16="http://schemas.microsoft.com/office/drawing/2014/main" id="{8BE02CAE-2B48-BA0B-F1DE-A10A1B650854}"/>
              </a:ext>
            </a:extLst>
          </p:cNvPr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F26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W Rail Right">
            <a:extLst>
              <a:ext uri="{FF2B5EF4-FFF2-40B4-BE49-F238E27FC236}">
                <a16:creationId xmlns:a16="http://schemas.microsoft.com/office/drawing/2014/main" id="{8C793CC4-A4F2-F19E-EFCE-331E0E95CAB5}"/>
              </a:ext>
            </a:extLst>
          </p:cNvPr>
          <p:cNvSpPr/>
          <p:nvPr userDrawn="1"/>
        </p:nvSpPr>
        <p:spPr>
          <a:xfrm>
            <a:off x="12115800" y="0"/>
            <a:ext cx="76200" cy="6858000"/>
          </a:xfrm>
          <a:prstGeom prst="rect">
            <a:avLst/>
          </a:prstGeom>
          <a:solidFill>
            <a:srgbClr val="2F26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W Rail Top">
            <a:extLst>
              <a:ext uri="{FF2B5EF4-FFF2-40B4-BE49-F238E27FC236}">
                <a16:creationId xmlns:a16="http://schemas.microsoft.com/office/drawing/2014/main" id="{1F02608B-391B-7B21-4506-F8D7B4CD2827}"/>
              </a:ext>
            </a:extLst>
          </p:cNvPr>
          <p:cNvSpPr/>
          <p:nvPr userDrawn="1"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F26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W Rail Bottom">
            <a:extLst>
              <a:ext uri="{FF2B5EF4-FFF2-40B4-BE49-F238E27FC236}">
                <a16:creationId xmlns:a16="http://schemas.microsoft.com/office/drawing/2014/main" id="{E4BEE1E5-D654-2F38-F8C6-3052AEA65A3A}"/>
              </a:ext>
            </a:extLst>
          </p:cNvPr>
          <p:cNvSpPr/>
          <p:nvPr userDrawn="1"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2F26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SW Logo Group">
            <a:extLst>
              <a:ext uri="{FF2B5EF4-FFF2-40B4-BE49-F238E27FC236}">
                <a16:creationId xmlns:a16="http://schemas.microsoft.com/office/drawing/2014/main" id="{F6C961E5-0BD1-C6CE-2797-318D9501FE57}"/>
              </a:ext>
            </a:extLst>
          </p:cNvPr>
          <p:cNvGrpSpPr/>
          <p:nvPr userDrawn="1"/>
        </p:nvGrpSpPr>
        <p:grpSpPr>
          <a:xfrm>
            <a:off x="457200" y="279400"/>
            <a:ext cx="2743200" cy="369332"/>
            <a:chOff x="457200" y="279400"/>
            <a:chExt cx="2743200" cy="369332"/>
          </a:xfrm>
        </p:grpSpPr>
        <p:sp>
          <p:nvSpPr>
            <p:cNvPr id="11" name="SW Logo Mark">
              <a:extLst>
                <a:ext uri="{FF2B5EF4-FFF2-40B4-BE49-F238E27FC236}">
                  <a16:creationId xmlns:a16="http://schemas.microsoft.com/office/drawing/2014/main" id="{EED393A1-919F-4DF8-75EB-A63DB6877486}"/>
                </a:ext>
              </a:extLst>
            </p:cNvPr>
            <p:cNvSpPr/>
            <p:nvPr userDrawn="1"/>
          </p:nvSpPr>
          <p:spPr>
            <a:xfrm>
              <a:off x="457200" y="304800"/>
              <a:ext cx="228600" cy="228600"/>
            </a:xfrm>
            <a:prstGeom prst="ellipse">
              <a:avLst/>
            </a:prstGeom>
            <a:solidFill>
              <a:srgbClr val="E36B3D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W Logo Wordmark">
              <a:extLst>
                <a:ext uri="{FF2B5EF4-FFF2-40B4-BE49-F238E27FC236}">
                  <a16:creationId xmlns:a16="http://schemas.microsoft.com/office/drawing/2014/main" id="{D091CAE2-25C8-1367-6AAB-E9B07D007694}"/>
                </a:ext>
              </a:extLst>
            </p:cNvPr>
            <p:cNvSpPr txBox="1"/>
            <p:nvPr userDrawn="1"/>
          </p:nvSpPr>
          <p:spPr>
            <a:xfrm>
              <a:off x="787400" y="279400"/>
              <a:ext cx="2413000" cy="369332"/>
            </a:xfrm>
            <a:prstGeom prst="rect">
              <a:avLst/>
            </a:prstGeom>
            <a:noFill/>
          </p:spPr>
          <p:txBody>
            <a:bodyPr vert="horz" wrap="square" rtlCol="0">
              <a:noAutofit/>
            </a:bodyPr>
            <a:lstStyle/>
            <a:p>
              <a:r>
                <a:rPr lang="en-US" sz="1100" b="1">
                  <a:solidFill>
                    <a:srgbClr val="2F263F"/>
                  </a:solidFill>
                  <a:latin typeface="Arial" panose="020B0604020202020204" pitchFamily="34" charset="0"/>
                </a:rPr>
                <a:t>SLIDEWRIGHT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81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 Content Title">
            <a:extLst>
              <a:ext uri="{FF2B5EF4-FFF2-40B4-BE49-F238E27FC236}">
                <a16:creationId xmlns:a16="http://schemas.microsoft.com/office/drawing/2014/main" id="{44EF7BFC-8968-F8DC-B97C-DADB9196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US"/>
              <a:t>Operating review</a:t>
            </a:r>
          </a:p>
        </p:txBody>
      </p:sp>
      <p:sp>
        <p:nvSpPr>
          <p:cNvPr id="3" name="SW Content Body">
            <a:extLst>
              <a:ext uri="{FF2B5EF4-FFF2-40B4-BE49-F238E27FC236}">
                <a16:creationId xmlns:a16="http://schemas.microsoft.com/office/drawing/2014/main" id="{F50865A0-23A0-5F08-F392-7B957323B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lang="en-US"/>
              <a:t>Three priorities</a:t>
            </a:r>
          </a:p>
          <a:p>
            <a:r>
              <a:rPr lang="en-US"/>
              <a:t>One accountable owner</a:t>
            </a:r>
          </a:p>
          <a:p>
            <a:r>
              <a:rPr lang="en-US"/>
              <a:t>A decision by Friday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43EF7-449B-8EDC-F404-CC493DA9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SLIDEWRIGHT DESIGN PROFILE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43D74-74D7-E127-13B4-4E567324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33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 Section Title">
            <a:extLst>
              <a:ext uri="{FF2B5EF4-FFF2-40B4-BE49-F238E27FC236}">
                <a16:creationId xmlns:a16="http://schemas.microsoft.com/office/drawing/2014/main" id="{328FA23B-12E9-38DD-DF67-082BF49F9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US"/>
              <a:t>Decisions, not decoration</a:t>
            </a:r>
          </a:p>
        </p:txBody>
      </p:sp>
      <p:sp>
        <p:nvSpPr>
          <p:cNvPr id="3" name="SW Section Body">
            <a:extLst>
              <a:ext uri="{FF2B5EF4-FFF2-40B4-BE49-F238E27FC236}">
                <a16:creationId xmlns:a16="http://schemas.microsoft.com/office/drawing/2014/main" id="{CFC15E35-62E8-C161-2565-014E30A8C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r>
              <a:rPr lang="en-US"/>
              <a:t>A source-bound section archetype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CC64A-BEA4-50EE-B536-DA6AB584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SLIDEWRIGHT DESIGN PROFILE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BDE2F-8EC1-B8DB-230D-A6E378D1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5D10E-DA3C-46B0-8203-6778E7F4E2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42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dewright Five Color">
      <a:dk1>
        <a:srgbClr val="2F263F"/>
      </a:dk1>
      <a:lt1>
        <a:srgbClr val="F7F3EA"/>
      </a:lt1>
      <a:dk2>
        <a:srgbClr val="4A4552"/>
      </a:dk2>
      <a:lt2>
        <a:srgbClr val="F7F3EA"/>
      </a:lt2>
      <a:accent1>
        <a:srgbClr val="3D53E5"/>
      </a:accent1>
      <a:accent2>
        <a:srgbClr val="E36B3D"/>
      </a:accent2>
      <a:accent3>
        <a:srgbClr val="4A4552"/>
      </a:accent3>
      <a:accent4>
        <a:srgbClr val="3D53E5"/>
      </a:accent4>
      <a:accent5>
        <a:srgbClr val="E36B3D"/>
      </a:accent5>
      <a:accent6>
        <a:srgbClr val="2F263F"/>
      </a:accent6>
      <a:hlink>
        <a:srgbClr val="3D53E5"/>
      </a:hlink>
      <a:folHlink>
        <a:srgbClr val="E36B3D"/>
      </a:folHlink>
    </a:clrScheme>
    <a:fontScheme name="Office">
      <a:majorFont>
        <a:latin typeface="Arial" panose="0211000402020202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Operating review</vt:lpstr>
      <vt:lpstr>Decisions, not decoration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Slidewright contributors</dc:creator>
  <cp:lastModifiedBy>Slidewright contributors</cp:lastModifiedBy>
  <cp:revision>1</cp:revision>
  <dcterms:created xsi:type="dcterms:W3CDTF">2026-07-16T02:28:27Z</dcterms:created>
  <dcterms:modified xsi:type="dcterms:W3CDTF">2026-07-16T02:28:52Z</dcterms:modified>
</cp:coreProperties>
</file>